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塗り絵を大画面で泳がせ・歩かせる出張ワークショップの提案。すでに2会場で実施済み。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実績を最初に見せる。数字とギャラリーで「もう動いている」ことを伝える。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会場が負担するのは場所だけ、という点を最初に伝える。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体験の核。3秒で泳ぎ出すことと、自分の絵を見つける瞬間。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が体験の山。ここまで3秒で来ることが他にない点。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見た目の話ではなく、体験を成立させるための決めごと。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動きで見分けられることが、自分の絵を見つけやすさに効いている。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恐竜テーマ。水族館と2つの世界を選べることを伝える。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回転と待ち時間の見込み。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会場側が判断に使う項目。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会場側が判断に使う項目。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締め。5点だけ覚えて帰ってもらう。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aintingsAquarium/docs/images/画面-水族館-実物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0" y="0"/>
            <a:ext cx="633953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137160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C3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出張ワークショップのご提案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58368" y="178308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お絵かき水族館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お絵かきダイナソー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658368" y="32918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E4F1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子どもが塗った絵が、その場で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E4F1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大画面の中を泳ぎ・歩き出します。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58368" y="427939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9C9D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塗り終わった紙をスキャナに通すだけ。約3秒後には、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9C9D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その絵が画面の中で動いています。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8368" y="5074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すでに2会場・のべ630人のお子さまに参加いただいています。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8368" y="6080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8FB4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右は実際の画面です。泳いでいるのは、すべて会場で塗られた実物の絵です。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実施実績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6070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すでに2会場で、のべ630人のお子さまに参加いただいています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737360"/>
            <a:ext cx="5029200" cy="1737360"/>
          </a:xfrm>
          <a:prstGeom prst="roundRect">
            <a:avLst>
              <a:gd name="adj" fmla="val 5263"/>
            </a:avLst>
          </a:prstGeom>
          <a:solidFill>
            <a:srgbClr val="EFF6FA"/>
          </a:solidFill>
          <a:ln w="12700">
            <a:solidFill>
              <a:srgbClr val="CF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3B5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78408" y="19385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イオン久御山店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35808" y="19385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2日間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24528" y="19385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6F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420人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78408" y="25968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イオン大日店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35808" y="259689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2日間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24528" y="259689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6F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210人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78408" y="3054096"/>
            <a:ext cx="4389120" cy="0"/>
          </a:xfrm>
          <a:prstGeom prst="line">
            <a:avLst/>
          </a:prstGeom>
          <a:noFill/>
          <a:ln w="12700">
            <a:solidFill>
              <a:srgbClr val="B6D9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31089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合計 4日間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24528" y="31089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630人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94944" y="3794760"/>
            <a:ext cx="146304" cy="146304"/>
          </a:xfrm>
          <a:prstGeom prst="ellipse">
            <a:avLst/>
          </a:prstGeom>
          <a:solidFill>
            <a:srgbClr val="0B6FA4"/>
          </a:solidFill>
          <a:ln/>
        </p:spPr>
      </p:sp>
      <p:sp>
        <p:nvSpPr>
          <p:cNvPr id="15" name="Text 13"/>
          <p:cNvSpPr/>
          <p:nvPr/>
        </p:nvSpPr>
        <p:spPr>
          <a:xfrm>
            <a:off x="987552" y="3703320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来場層はファミリーが中心。未就学児〜小学生とその保護者に受け入れられています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4944" y="4453128"/>
            <a:ext cx="146304" cy="146304"/>
          </a:xfrm>
          <a:prstGeom prst="ellipse">
            <a:avLst/>
          </a:prstGeom>
          <a:solidFill>
            <a:srgbClr val="0B6FA4"/>
          </a:solidFill>
          <a:ln/>
        </p:spPr>
      </p:sp>
      <p:sp>
        <p:nvSpPr>
          <p:cNvPr id="17" name="Text 15"/>
          <p:cNvSpPr/>
          <p:nvPr/>
        </p:nvSpPr>
        <p:spPr>
          <a:xfrm>
            <a:off x="987552" y="4361688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体験の終わりにアンケートへ案内する導線もスムーズでした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4944" y="5111496"/>
            <a:ext cx="146304" cy="146304"/>
          </a:xfrm>
          <a:prstGeom prst="ellipse">
            <a:avLst/>
          </a:prstGeom>
          <a:solidFill>
            <a:srgbClr val="0B6FA4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" y="5020056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運用中に見つかった不具合は、実際に集まった紙・写真データを使って検証し、その都度直しています</a:t>
            </a:r>
            <a:endParaRPr lang="en-US" sz="1200" dirty="0"/>
          </a:p>
        </p:txBody>
      </p:sp>
      <p:pic>
        <p:nvPicPr>
          <p:cNvPr id="20" name="Image 0" descr="/home/user/PaintingsAquarium/docs/images/いろいろな絵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737360"/>
            <a:ext cx="5760720" cy="3538728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0B3B52">
                <a:alpha val="12000"/>
              </a:srgbClr>
            </a:outerShdw>
          </a:effectLst>
        </p:spPr>
      </p:pic>
      <p:sp>
        <p:nvSpPr>
          <p:cNvPr id="21" name="Text 18"/>
          <p:cNvSpPr/>
          <p:nvPr/>
        </p:nvSpPr>
        <p:spPr>
          <a:xfrm>
            <a:off x="5760720" y="532180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実際に会場で塗られた絵の一部（水族館5種・恐竜5種、すべて実物）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1枚でいうと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41732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1900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塗り終わった紙をスキャナに通すだけで、</a:t>
            </a:r>
            <a:endParaRPr lang="en-US" sz="19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900" b="1" dirty="0">
                <a:solidFill>
                  <a:srgbClr val="0B6F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約3秒後</a:t>
            </a:r>
            <a:pPr indent="0" marL="0">
              <a:lnSpc>
                <a:spcPts val="3400"/>
              </a:lnSpc>
              <a:buNone/>
            </a:pPr>
            <a:r>
              <a:rPr lang="en-US" sz="1900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にその絵が画面の中で動き始めます。</a:t>
            </a:r>
            <a:endParaRPr lang="en-US" sz="19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900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自分の絵を探して、指をさして、親を呼ぶ。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58368" y="2788920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この瞬間を作るための企画です。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" y="3456432"/>
            <a:ext cx="6309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塗り絵なので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絵が苦手な子でも参加できます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。塗った紙は持ち帰れます。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「水族館」「恐竜」の2つの世界から選べます。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4160520"/>
            <a:ext cx="6309360" cy="1737360"/>
          </a:xfrm>
          <a:prstGeom prst="roundRect">
            <a:avLst>
              <a:gd name="adj" fmla="val 5263"/>
            </a:avLst>
          </a:prstGeom>
          <a:solidFill>
            <a:srgbClr val="EFF6FA"/>
          </a:solidFill>
          <a:ln w="12700">
            <a:solidFill>
              <a:srgbClr val="CF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3B52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78408" y="4224528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35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会場にお借りするのは「場所」だけです。</a:t>
            </a:r>
            <a:endParaRPr lang="en-US" sz="13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机・椅子・モニター・機材・画材まで、すべてこちらで持ち込みます。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78408" y="5193792"/>
            <a:ext cx="146304" cy="146304"/>
          </a:xfrm>
          <a:prstGeom prst="ellipse">
            <a:avLst/>
          </a:prstGeom>
          <a:solidFill>
            <a:srgbClr val="0B6FA4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5120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インターネット不要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13048" y="5193792"/>
            <a:ext cx="146304" cy="146304"/>
          </a:xfrm>
          <a:prstGeom prst="ellipse">
            <a:avLst/>
          </a:prstGeom>
          <a:solidFill>
            <a:srgbClr val="0B6FA4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5120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音は出ません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78408" y="5596128"/>
            <a:ext cx="146304" cy="146304"/>
          </a:xfrm>
          <a:prstGeom prst="ellipse">
            <a:avLst/>
          </a:prstGeom>
          <a:solidFill>
            <a:srgbClr val="0B6FA4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552297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個人情報なし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13048" y="5596128"/>
            <a:ext cx="146304" cy="146304"/>
          </a:xfrm>
          <a:prstGeom prst="ellipse">
            <a:avLst/>
          </a:prstGeom>
          <a:solidFill>
            <a:srgbClr val="0B6FA4"/>
          </a:solidFill>
          <a:ln/>
        </p:spPr>
      </p:sp>
      <p:sp>
        <p:nvSpPr>
          <p:cNvPr id="15" name="Text 13"/>
          <p:cNvSpPr/>
          <p:nvPr/>
        </p:nvSpPr>
        <p:spPr>
          <a:xfrm>
            <a:off x="4069080" y="552297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跡は残りません</a:t>
            </a:r>
            <a:endParaRPr lang="en-US" sz="1300" dirty="0"/>
          </a:p>
        </p:txBody>
      </p:sp>
      <p:pic>
        <p:nvPicPr>
          <p:cNvPr id="16" name="Image 0" descr="/home/user/PaintingsAquarium/docs/images/画面-水族館-実物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417320"/>
            <a:ext cx="4160520" cy="2340864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0B3B52">
                <a:alpha val="12000"/>
              </a:srgbClr>
            </a:outerShdw>
          </a:effectLst>
        </p:spPr>
      </p:pic>
      <p:sp>
        <p:nvSpPr>
          <p:cNvPr id="17" name="Text 14"/>
          <p:cNvSpPr/>
          <p:nvPr/>
        </p:nvSpPr>
        <p:spPr>
          <a:xfrm>
            <a:off x="7360920" y="382219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実際の画面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360920" y="42793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6F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約3秒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778240" y="42793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塗り終わってから動き出すまで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360920" y="4846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6F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50匹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778240" y="4846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同時に動く数の上限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360920" y="54132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6F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11種類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8778240" y="54132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選べる台紙（2テーマ）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来場者の体験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6070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会場で実際に起きること</a:t>
            </a:r>
            <a:endParaRPr lang="en-US" sz="1400" dirty="0"/>
          </a:p>
        </p:txBody>
      </p:sp>
      <p:pic>
        <p:nvPicPr>
          <p:cNvPr id="4" name="Image 0" descr="/home/user/PaintingsAquarium/docs/images/変換前後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72768"/>
            <a:ext cx="6035040" cy="2112264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0B3B52">
                <a:alpha val="1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658368" y="37947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撮影した紙（左）が、約3秒後にそのまま画面の中で動きます（右）。実際に会場で塗られた1枚です。</a:t>
            </a:r>
            <a:endParaRPr lang="en-US" sz="1300" dirty="0"/>
          </a:p>
        </p:txBody>
      </p:sp>
      <p:pic>
        <p:nvPicPr>
          <p:cNvPr id="6" name="Image 1" descr="/home/user/PaintingsAquarium/docs/images/画面-水族館-実物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526280"/>
            <a:ext cx="6035040" cy="1280160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0B3B52">
                <a:alpha val="12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7223760" y="1572768"/>
            <a:ext cx="4315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子どもは机で台紙を塗り、塗り終わったらスタッフに渡します。スタッフが紙をスキャナに通すと、</a:t>
            </a:r>
            <a:pPr indent="0" marL="0">
              <a:lnSpc>
                <a:spcPts val="2700"/>
              </a:lnSpc>
              <a:buNone/>
            </a:pPr>
            <a:r>
              <a:rPr lang="en-US" sz="1500" b="1" dirty="0">
                <a:solidFill>
                  <a:srgbClr val="0B6F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約3秒後</a:t>
            </a:r>
            <a:pPr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、いま塗ったばかりの絵が画面の奥からふわっと現れて、動き始めます。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7223760" y="3310128"/>
            <a:ext cx="4315968" cy="1600200"/>
          </a:xfrm>
          <a:prstGeom prst="roundRect">
            <a:avLst>
              <a:gd name="adj" fmla="val 5714"/>
            </a:avLst>
          </a:prstGeom>
          <a:solidFill>
            <a:srgbClr val="FDF3E5"/>
          </a:solidFill>
          <a:ln w="12700">
            <a:solidFill>
              <a:srgbClr val="F0DCC0"/>
            </a:solidFill>
            <a:prstDash val="solid"/>
          </a:ln>
          <a:effectLst>
            <a:outerShdw sx="100000" sy="100000" kx="0" ky="0" algn="bl" rotWithShape="0" blurRad="127000" dist="25400" dir="5400000">
              <a:srgbClr val="0B3B52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498080" y="35661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「あっ、わたしの！」</a:t>
            </a:r>
            <a:endParaRPr lang="en-US" sz="2300" dirty="0"/>
          </a:p>
        </p:txBody>
      </p:sp>
      <p:sp>
        <p:nvSpPr>
          <p:cNvPr id="10" name="Text 6"/>
          <p:cNvSpPr/>
          <p:nvPr/>
        </p:nvSpPr>
        <p:spPr>
          <a:xfrm>
            <a:off x="7498080" y="4096512"/>
            <a:ext cx="3767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子どもは画面に駆け寄って自分の絵を指さし、親を呼びます。親はスマホを構えます。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223760" y="5120640"/>
            <a:ext cx="4315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F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この10秒のために全部を作っています。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流れ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6070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1人あたり 5〜10分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627632"/>
            <a:ext cx="10874959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19656"/>
            <a:ext cx="402336" cy="402336"/>
          </a:xfrm>
          <a:prstGeom prst="ellipse">
            <a:avLst/>
          </a:prstGeom>
          <a:solidFill>
            <a:srgbClr val="DCE8E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19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27048" y="1627632"/>
            <a:ext cx="3840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テーマ・台紙を選ぶ（水族館6種／恐竜5種）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13248" y="1627632"/>
            <a:ext cx="914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6F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01968" y="1627632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「選ぶ」という行為で、自分のものになる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" y="2560320"/>
            <a:ext cx="10874959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752344"/>
            <a:ext cx="402336" cy="402336"/>
          </a:xfrm>
          <a:prstGeom prst="ellipse">
            <a:avLst/>
          </a:prstGeom>
          <a:solidFill>
            <a:srgbClr val="DCE8E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752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27048" y="2560320"/>
            <a:ext cx="3840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好きな色で塗る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13248" y="2560320"/>
            <a:ext cx="914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6F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3〜7分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01968" y="2560320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塗るだけなので失敗しない。絵が苦手でも参加できる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" y="3493008"/>
            <a:ext cx="10874959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685032"/>
            <a:ext cx="402336" cy="402336"/>
          </a:xfrm>
          <a:prstGeom prst="ellipse">
            <a:avLst/>
          </a:prstGeom>
          <a:solidFill>
            <a:srgbClr val="DCE8E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685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27048" y="3493008"/>
            <a:ext cx="3840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スタッフに渡す → スキャン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13248" y="3493008"/>
            <a:ext cx="914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6F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20秒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01968" y="3493008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待たせない。機械の操作は見せない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" y="4425696"/>
            <a:ext cx="10874959" cy="786384"/>
          </a:xfrm>
          <a:prstGeom prst="roundRect">
            <a:avLst>
              <a:gd name="adj" fmla="val 11628"/>
            </a:avLst>
          </a:prstGeom>
          <a:solidFill>
            <a:srgbClr val="E8F3F9"/>
          </a:solidFill>
          <a:ln w="12700">
            <a:solidFill>
              <a:srgbClr val="B6D9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4617720"/>
            <a:ext cx="402336" cy="402336"/>
          </a:xfrm>
          <a:prstGeom prst="ellipse">
            <a:avLst/>
          </a:prstGeom>
          <a:solidFill>
            <a:srgbClr val="0B6FA4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617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27048" y="4425696"/>
            <a:ext cx="3840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画面に自分の絵が現れる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13248" y="4425696"/>
            <a:ext cx="914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6F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1〜3分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01968" y="4425696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「自分がやったことが、大きな画面を変えた」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8368" y="5358384"/>
            <a:ext cx="10874959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5550408"/>
            <a:ext cx="402336" cy="402336"/>
          </a:xfrm>
          <a:prstGeom prst="ellipse">
            <a:avLst/>
          </a:prstGeom>
          <a:solidFill>
            <a:srgbClr val="DCE8EF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550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527048" y="5358384"/>
            <a:ext cx="3840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塗った紙を持ち帰る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13248" y="5358384"/>
            <a:ext cx="914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6F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01968" y="5358384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家でもう一度話題になる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なぜこの形にしているか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572768"/>
            <a:ext cx="5266944" cy="1975104"/>
          </a:xfrm>
          <a:prstGeom prst="roundRect">
            <a:avLst>
              <a:gd name="adj" fmla="val 4630"/>
            </a:avLst>
          </a:prstGeom>
          <a:solidFill>
            <a:srgbClr val="EFF6FA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0" dist="25400" dir="5400000">
              <a:srgbClr val="0B3B52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87552" y="1901952"/>
            <a:ext cx="182880" cy="182880"/>
          </a:xfrm>
          <a:prstGeom prst="ellipse">
            <a:avLst/>
          </a:prstGeom>
          <a:solidFill>
            <a:srgbClr val="0B6FA4"/>
          </a:solidFill>
          <a:ln/>
        </p:spPr>
      </p:sp>
      <p:sp>
        <p:nvSpPr>
          <p:cNvPr id="5" name="Text 3"/>
          <p:cNvSpPr/>
          <p:nvPr/>
        </p:nvSpPr>
        <p:spPr>
          <a:xfrm>
            <a:off x="1316736" y="181051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塗り絵にした理由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87552" y="2304288"/>
            <a:ext cx="46085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白紙に「描いて」と言うと、描ける子と描けない子が分かれます。台紙なら全員が同じスタートラインに立てて、しかも必ずその生き物に見えたまま動きます。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99632" y="1572768"/>
            <a:ext cx="5266944" cy="1975104"/>
          </a:xfrm>
          <a:prstGeom prst="roundRect">
            <a:avLst>
              <a:gd name="adj" fmla="val 4630"/>
            </a:avLst>
          </a:prstGeom>
          <a:solidFill>
            <a:srgbClr val="EFF6FA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0" dist="25400" dir="5400000">
              <a:srgbClr val="0B3B52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28816" y="1901952"/>
            <a:ext cx="182880" cy="182880"/>
          </a:xfrm>
          <a:prstGeom prst="ellipse">
            <a:avLst/>
          </a:prstGeom>
          <a:solidFill>
            <a:srgbClr val="0B6FA4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0" y="181051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3秒にこだわる理由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28816" y="2304288"/>
            <a:ext cx="46085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「あとで映ります」では、自分がやったこととの因果が切れます。その場で動き出すから、驚きと達成感になります。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3785616"/>
            <a:ext cx="5266944" cy="1975104"/>
          </a:xfrm>
          <a:prstGeom prst="roundRect">
            <a:avLst>
              <a:gd name="adj" fmla="val 4630"/>
            </a:avLst>
          </a:prstGeom>
          <a:solidFill>
            <a:srgbClr val="EFF6FA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0" dist="25400" dir="5400000">
              <a:srgbClr val="0B3B52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87552" y="4114800"/>
            <a:ext cx="182880" cy="182880"/>
          </a:xfrm>
          <a:prstGeom prst="ellipse">
            <a:avLst/>
          </a:prstGeom>
          <a:solidFill>
            <a:srgbClr val="0B6FA4"/>
          </a:solidFill>
          <a:ln/>
        </p:spPr>
      </p:sp>
      <p:sp>
        <p:nvSpPr>
          <p:cNvPr id="13" name="Text 11"/>
          <p:cNvSpPr/>
          <p:nvPr/>
        </p:nvSpPr>
        <p:spPr>
          <a:xfrm>
            <a:off x="1316736" y="40233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絵を直さない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87552" y="4517136"/>
            <a:ext cx="46085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はみ出した色も塗り残しも、そのまま動きます。きれいに直すと「自分の絵」ではなくなります。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99632" y="3785616"/>
            <a:ext cx="5266944" cy="1975104"/>
          </a:xfrm>
          <a:prstGeom prst="roundRect">
            <a:avLst>
              <a:gd name="adj" fmla="val 4630"/>
            </a:avLst>
          </a:prstGeom>
          <a:solidFill>
            <a:srgbClr val="EFF6FA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0" dist="25400" dir="5400000">
              <a:srgbClr val="0B3B52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28816" y="4114800"/>
            <a:ext cx="182880" cy="182880"/>
          </a:xfrm>
          <a:prstGeom prst="ellipse">
            <a:avLst/>
          </a:prstGeom>
          <a:solidFill>
            <a:srgbClr val="0B6FA4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40233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同時に動くのは50匹まで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28816" y="4517136"/>
            <a:ext cx="46085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増え続けると自分の絵を見失います。古い絵は消えるのではなく、画面の外へ去ります。絵どうしも避け合います。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お絵かき水族館：6種類、泳ぎ方が違います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6070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同じ海に6種類がいて、動きで見分けられます。自分が塗ったのがどれか、すぐ分かります。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3419856" cy="1645920"/>
          </a:xfrm>
          <a:prstGeom prst="roundRect">
            <a:avLst>
              <a:gd name="adj" fmla="val 5556"/>
            </a:avLst>
          </a:prstGeom>
          <a:solidFill>
            <a:srgbClr val="EFF6FA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0" dist="25400" dir="5400000">
              <a:srgbClr val="0B3B5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9264" y="2112264"/>
            <a:ext cx="237744" cy="23774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6" name="Text 4"/>
          <p:cNvSpPr/>
          <p:nvPr/>
        </p:nvSpPr>
        <p:spPr>
          <a:xfrm>
            <a:off x="1316736" y="20391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9264" y="2532888"/>
            <a:ext cx="2798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尾びれを振りながら進み、画面の端で向きを変えて戻ってきます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52544" y="1783080"/>
            <a:ext cx="3419856" cy="1645920"/>
          </a:xfrm>
          <a:prstGeom prst="roundRect">
            <a:avLst>
              <a:gd name="adj" fmla="val 5556"/>
            </a:avLst>
          </a:prstGeom>
          <a:solidFill>
            <a:srgbClr val="EFF6FA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0" dist="25400" dir="5400000">
              <a:srgbClr val="0B3B52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2112264"/>
            <a:ext cx="237744" cy="237744"/>
          </a:xfrm>
          <a:prstGeom prst="ellipse">
            <a:avLst/>
          </a:prstGeom>
          <a:solidFill>
            <a:srgbClr val="3AA9E0"/>
          </a:solidFill>
          <a:ln/>
        </p:spPr>
      </p:sp>
      <p:sp>
        <p:nvSpPr>
          <p:cNvPr id="10" name="Text 8"/>
          <p:cNvSpPr/>
          <p:nvPr/>
        </p:nvSpPr>
        <p:spPr>
          <a:xfrm>
            <a:off x="5010912" y="20391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イルカ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2532888"/>
            <a:ext cx="2798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すいすい泳ぎ、ときどき水面へ大きく跳ねます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783080"/>
            <a:ext cx="3419856" cy="1645920"/>
          </a:xfrm>
          <a:prstGeom prst="roundRect">
            <a:avLst>
              <a:gd name="adj" fmla="val 5556"/>
            </a:avLst>
          </a:prstGeom>
          <a:solidFill>
            <a:srgbClr val="EFF6FA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0" dist="25400" dir="5400000">
              <a:srgbClr val="0B3B52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57616" y="2112264"/>
            <a:ext cx="237744" cy="237744"/>
          </a:xfrm>
          <a:prstGeom prst="ellipse">
            <a:avLst/>
          </a:prstGeom>
          <a:solidFill>
            <a:srgbClr val="5F7480"/>
          </a:solidFill>
          <a:ln/>
        </p:spPr>
      </p:sp>
      <p:sp>
        <p:nvSpPr>
          <p:cNvPr id="14" name="Text 12"/>
          <p:cNvSpPr/>
          <p:nvPr/>
        </p:nvSpPr>
        <p:spPr>
          <a:xfrm>
            <a:off x="8705088" y="20391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サメ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57616" y="2532888"/>
            <a:ext cx="2798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魚を見つけると急に速くなって追いかけます（追いつきません）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3666744"/>
            <a:ext cx="3419856" cy="1645920"/>
          </a:xfrm>
          <a:prstGeom prst="roundRect">
            <a:avLst>
              <a:gd name="adj" fmla="val 5556"/>
            </a:avLst>
          </a:prstGeom>
          <a:solidFill>
            <a:srgbClr val="EFF6FA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0" dist="25400" dir="5400000">
              <a:srgbClr val="0B3B52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9264" y="3995928"/>
            <a:ext cx="237744" cy="237744"/>
          </a:xfrm>
          <a:prstGeom prst="ellipse">
            <a:avLst/>
          </a:prstGeom>
          <a:solidFill>
            <a:srgbClr val="F2A03D"/>
          </a:solidFill>
          <a:ln/>
        </p:spPr>
      </p:sp>
      <p:sp>
        <p:nvSpPr>
          <p:cNvPr id="18" name="Text 16"/>
          <p:cNvSpPr/>
          <p:nvPr/>
        </p:nvSpPr>
        <p:spPr>
          <a:xfrm>
            <a:off x="1316736" y="39227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タコ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9264" y="4416552"/>
            <a:ext cx="2798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足を波打たせながら、ゆっくり上下に漂います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52544" y="3666744"/>
            <a:ext cx="3419856" cy="1645920"/>
          </a:xfrm>
          <a:prstGeom prst="roundRect">
            <a:avLst>
              <a:gd name="adj" fmla="val 5556"/>
            </a:avLst>
          </a:prstGeom>
          <a:solidFill>
            <a:srgbClr val="EFF6FA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0" dist="25400" dir="5400000">
              <a:srgbClr val="0B3B52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995928"/>
            <a:ext cx="237744" cy="237744"/>
          </a:xfrm>
          <a:prstGeom prst="ellipse">
            <a:avLst/>
          </a:prstGeom>
          <a:solidFill>
            <a:srgbClr val="9B7BD1"/>
          </a:solidFill>
          <a:ln/>
        </p:spPr>
      </p:sp>
      <p:sp>
        <p:nvSpPr>
          <p:cNvPr id="22" name="Text 20"/>
          <p:cNvSpPr/>
          <p:nvPr/>
        </p:nvSpPr>
        <p:spPr>
          <a:xfrm>
            <a:off x="5010912" y="39227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クラゲ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63440" y="4416552"/>
            <a:ext cx="2798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ほとんど進まず、その場でふわふわしています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46720" y="3666744"/>
            <a:ext cx="3419856" cy="1645920"/>
          </a:xfrm>
          <a:prstGeom prst="roundRect">
            <a:avLst>
              <a:gd name="adj" fmla="val 5556"/>
            </a:avLst>
          </a:prstGeom>
          <a:solidFill>
            <a:srgbClr val="EFF6FA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0" dist="25400" dir="5400000">
              <a:srgbClr val="0B3B52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57616" y="3995928"/>
            <a:ext cx="237744" cy="237744"/>
          </a:xfrm>
          <a:prstGeom prst="ellipse">
            <a:avLst/>
          </a:prstGeom>
          <a:solidFill>
            <a:srgbClr val="2E9E7B"/>
          </a:solidFill>
          <a:ln/>
        </p:spPr>
      </p:sp>
      <p:sp>
        <p:nvSpPr>
          <p:cNvPr id="26" name="Text 24"/>
          <p:cNvSpPr/>
          <p:nvPr/>
        </p:nvSpPr>
        <p:spPr>
          <a:xfrm>
            <a:off x="8705088" y="39227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ウミガメ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357616" y="4416552"/>
            <a:ext cx="2798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前足と後ろ足を漕ぎながら、S字を描いて進みます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8368" y="5669280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サメが魚に追いつかないのは意図的です。「食べられた」に見えると、その絵を描いた子が悲しむからです。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お絵かきダイナソー：歩く4種と、飛ぶ1種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6070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恐竜も同じ仕組みで動きます。台紙を選べば、水族館と同じ日に両方実施できます。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3419856" cy="1645920"/>
          </a:xfrm>
          <a:prstGeom prst="roundRect">
            <a:avLst>
              <a:gd name="adj" fmla="val 5556"/>
            </a:avLst>
          </a:prstGeom>
          <a:solidFill>
            <a:srgbClr val="EFF6FA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0" dist="25400" dir="5400000">
              <a:srgbClr val="0B3B5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9264" y="2112264"/>
            <a:ext cx="237744" cy="237744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6" name="Text 4"/>
          <p:cNvSpPr/>
          <p:nvPr/>
        </p:nvSpPr>
        <p:spPr>
          <a:xfrm>
            <a:off x="1316736" y="203911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アンキロサウルス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9264" y="2532888"/>
            <a:ext cx="2798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4本の足を交互に動かしながら平原を歩きます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52544" y="1783080"/>
            <a:ext cx="3419856" cy="1645920"/>
          </a:xfrm>
          <a:prstGeom prst="roundRect">
            <a:avLst>
              <a:gd name="adj" fmla="val 5556"/>
            </a:avLst>
          </a:prstGeom>
          <a:solidFill>
            <a:srgbClr val="EFF6FA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0" dist="25400" dir="5400000">
              <a:srgbClr val="0B3B52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2112264"/>
            <a:ext cx="237744" cy="237744"/>
          </a:xfrm>
          <a:prstGeom prst="ellipse">
            <a:avLst/>
          </a:prstGeom>
          <a:solidFill>
            <a:srgbClr val="0B6FA4"/>
          </a:solidFill>
          <a:ln/>
        </p:spPr>
      </p:sp>
      <p:sp>
        <p:nvSpPr>
          <p:cNvPr id="10" name="Text 8"/>
          <p:cNvSpPr/>
          <p:nvPr/>
        </p:nvSpPr>
        <p:spPr>
          <a:xfrm>
            <a:off x="5010912" y="203911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ブロントサウルス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2532888"/>
            <a:ext cx="2798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同上（長い首と尾をゆったり揺らしながら）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783080"/>
            <a:ext cx="3419856" cy="1645920"/>
          </a:xfrm>
          <a:prstGeom prst="roundRect">
            <a:avLst>
              <a:gd name="adj" fmla="val 5556"/>
            </a:avLst>
          </a:prstGeom>
          <a:solidFill>
            <a:srgbClr val="EFF6FA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0" dist="25400" dir="5400000">
              <a:srgbClr val="0B3B52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57616" y="2112264"/>
            <a:ext cx="237744" cy="237744"/>
          </a:xfrm>
          <a:prstGeom prst="ellipse">
            <a:avLst/>
          </a:prstGeom>
          <a:solidFill>
            <a:srgbClr val="C9782B"/>
          </a:solidFill>
          <a:ln/>
        </p:spPr>
      </p:sp>
      <p:sp>
        <p:nvSpPr>
          <p:cNvPr id="14" name="Text 12"/>
          <p:cNvSpPr/>
          <p:nvPr/>
        </p:nvSpPr>
        <p:spPr>
          <a:xfrm>
            <a:off x="8705088" y="203911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ステゴサウルス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7616" y="2532888"/>
            <a:ext cx="2798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同上（背中の板を上下に揺らしながら）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3666744"/>
            <a:ext cx="3419856" cy="1645920"/>
          </a:xfrm>
          <a:prstGeom prst="roundRect">
            <a:avLst>
              <a:gd name="adj" fmla="val 5556"/>
            </a:avLst>
          </a:prstGeom>
          <a:solidFill>
            <a:srgbClr val="EFF6FA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0" dist="25400" dir="5400000">
              <a:srgbClr val="0B3B52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9264" y="3995928"/>
            <a:ext cx="237744" cy="237744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18" name="Text 16"/>
          <p:cNvSpPr/>
          <p:nvPr/>
        </p:nvSpPr>
        <p:spPr>
          <a:xfrm>
            <a:off x="1316736" y="392277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トリケラトプス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9264" y="4416552"/>
            <a:ext cx="2798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同上（3本づのを前に構えて）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52544" y="3666744"/>
            <a:ext cx="3419856" cy="1645920"/>
          </a:xfrm>
          <a:prstGeom prst="roundRect">
            <a:avLst>
              <a:gd name="adj" fmla="val 5556"/>
            </a:avLst>
          </a:prstGeom>
          <a:solidFill>
            <a:srgbClr val="EFF6FA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0" dist="25400" dir="5400000">
              <a:srgbClr val="0B3B52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995928"/>
            <a:ext cx="237744" cy="237744"/>
          </a:xfrm>
          <a:prstGeom prst="ellipse">
            <a:avLst/>
          </a:prstGeom>
          <a:solidFill>
            <a:srgbClr val="9B7BD1"/>
          </a:solidFill>
          <a:ln/>
        </p:spPr>
      </p:sp>
      <p:sp>
        <p:nvSpPr>
          <p:cNvPr id="22" name="Text 20"/>
          <p:cNvSpPr/>
          <p:nvPr/>
        </p:nvSpPr>
        <p:spPr>
          <a:xfrm>
            <a:off x="5010912" y="392277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プテラノドン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63440" y="4416552"/>
            <a:ext cx="2798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唯一空を飛びます。翼を開いてたたみながら羽ばたきます</a:t>
            </a:r>
            <a:endParaRPr lang="en-US" sz="1250" dirty="0"/>
          </a:p>
        </p:txBody>
      </p:sp>
      <p:pic>
        <p:nvPicPr>
          <p:cNvPr id="24" name="Image 0" descr="/home/user/PaintingsAquarium/docs/images/画面-恐竜-実物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3666744"/>
            <a:ext cx="3419856" cy="1837944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0B3B52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年齢による楽しみ方と、混雑したとき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572768"/>
            <a:ext cx="3419856" cy="1572768"/>
          </a:xfrm>
          <a:prstGeom prst="roundRect">
            <a:avLst>
              <a:gd name="adj" fmla="val 5814"/>
            </a:avLst>
          </a:prstGeom>
          <a:solidFill>
            <a:srgbClr val="EFF6FA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0" dist="25400" dir="5400000">
              <a:srgbClr val="0B3B52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9264" y="1792224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6F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未就学児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9264" y="2249424"/>
            <a:ext cx="2798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塗ること自体が楽しい。画面では色で自分の絵を探します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52544" y="1572768"/>
            <a:ext cx="3419856" cy="1572768"/>
          </a:xfrm>
          <a:prstGeom prst="roundRect">
            <a:avLst>
              <a:gd name="adj" fmla="val 5814"/>
            </a:avLst>
          </a:prstGeom>
          <a:solidFill>
            <a:srgbClr val="EFF6FA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0" dist="25400" dir="5400000">
              <a:srgbClr val="0B3B52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63440" y="1792224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6F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小学生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663440" y="2249424"/>
            <a:ext cx="2798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色の塗り分けや模様で工夫する。動きの違いに気づいて見比べます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46720" y="1572768"/>
            <a:ext cx="3419856" cy="1572768"/>
          </a:xfrm>
          <a:prstGeom prst="roundRect">
            <a:avLst>
              <a:gd name="adj" fmla="val 5814"/>
            </a:avLst>
          </a:prstGeom>
          <a:solidFill>
            <a:srgbClr val="EFF6FA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0" dist="25400" dir="5400000">
              <a:srgbClr val="0B3B52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357616" y="1792224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6F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保護者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357616" y="2249424"/>
            <a:ext cx="2798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撮影する。子どもが自分の絵を見つける瞬間を記録できます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" y="361188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混雑したとき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94944" y="4334256"/>
            <a:ext cx="164592" cy="164592"/>
          </a:xfrm>
          <a:prstGeom prst="ellipse">
            <a:avLst/>
          </a:prstGeom>
          <a:solidFill>
            <a:srgbClr val="4FC3E8"/>
          </a:solidFill>
          <a:ln/>
        </p:spPr>
      </p:sp>
      <p:sp>
        <p:nvSpPr>
          <p:cNvPr id="14" name="Text 12"/>
          <p:cNvSpPr/>
          <p:nvPr/>
        </p:nvSpPr>
        <p:spPr>
          <a:xfrm>
            <a:off x="1042416" y="42062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塗る席は6席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767328" y="4206240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1時間あたり 30〜50人が目安です（塗り時間5分想定）。実績はイオン久御山店で2日間420人（1日あたり210人）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4944" y="5047488"/>
            <a:ext cx="164592" cy="164592"/>
          </a:xfrm>
          <a:prstGeom prst="ellipse">
            <a:avLst/>
          </a:prstGeom>
          <a:solidFill>
            <a:srgbClr val="4FC3E8"/>
          </a:solidFill>
          <a:ln/>
        </p:spPr>
      </p:sp>
      <p:sp>
        <p:nvSpPr>
          <p:cNvPr id="17" name="Text 15"/>
          <p:cNvSpPr/>
          <p:nvPr/>
        </p:nvSpPr>
        <p:spPr>
          <a:xfrm>
            <a:off x="1042416" y="491947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列はできません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767328" y="4919472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待ち行列はスキャンの20秒だけ。塗っている人が滞留するだけで、機械の前には並びません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4944" y="5760720"/>
            <a:ext cx="164592" cy="164592"/>
          </a:xfrm>
          <a:prstGeom prst="ellipse">
            <a:avLst/>
          </a:prstGeom>
          <a:solidFill>
            <a:srgbClr val="4FC3E8"/>
          </a:solidFill>
          <a:ln/>
        </p:spPr>
      </p:sp>
      <p:sp>
        <p:nvSpPr>
          <p:cNvPr id="20" name="Text 18"/>
          <p:cNvSpPr/>
          <p:nvPr/>
        </p:nvSpPr>
        <p:spPr>
          <a:xfrm>
            <a:off x="1042416" y="563270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持ち帰りもできます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767328" y="5632704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台紙を持ち帰り、あとから塗って戻ってきてもらうこともできます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ご心配への回答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572768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ネットワークを使いますか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90288" y="1572768"/>
            <a:ext cx="6903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使いません。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会場のWi-Fiも有線も不要です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377440"/>
            <a:ext cx="10874959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432304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音は出ますか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90288" y="2432304"/>
            <a:ext cx="6903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出しません。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静かな展示です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3236976"/>
            <a:ext cx="10874959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291840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個人情報を集めますか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90288" y="3291840"/>
            <a:ext cx="6903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集めません。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名前も写真も年齢もいただきません。残すのは絵の画像だけです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4096512"/>
            <a:ext cx="10874959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4151376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絵は誰かに公開されますか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0288" y="4151376"/>
            <a:ext cx="6903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しません。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その場のモニターに映るだけで、外部には一切送りません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" y="4956048"/>
            <a:ext cx="10874959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5010912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机や椅子はお借りできますか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0288" y="5010912"/>
            <a:ext cx="6903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不要です。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こちらで持ち込みます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" y="5815584"/>
            <a:ext cx="10874959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5870448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モニターの用意は必要ですか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90288" y="5870448"/>
            <a:ext cx="6903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不要です。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こちらで持ち込みます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" y="6675120"/>
            <a:ext cx="10874959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ご心配への回答（つづき）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572768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汚れませんか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90288" y="1572768"/>
            <a:ext cx="6903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汚れにくいです。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クレヨンと色鉛筆だけで、絵の具や液体は使いません。机はこちらの持ち込みで、養生シートを敷きます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377440"/>
            <a:ext cx="10874959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432304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子どもが機械を触りませんか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90288" y="2432304"/>
            <a:ext cx="6903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機材は机の奥に置き、来場者は触りません。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操作するのはスタッフだけです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3236976"/>
            <a:ext cx="10874959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291840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コード類は危なくないですか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90288" y="3291840"/>
            <a:ext cx="6903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固定します。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床を通る線は養生テープで留めます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4096512"/>
            <a:ext cx="10874959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4151376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途中で止まりませんか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0288" y="4151376"/>
            <a:ext cx="6903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万一PCが止まっても、再起動すればそれまでの絵は全部残ります。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塗った紙も手元に残るので、通し直せます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" y="4956048"/>
            <a:ext cx="10874959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5010912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大人数でも大丈夫ですか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0288" y="5010912"/>
            <a:ext cx="6903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実績があります。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イオン久御山店では2日間で420人にご参加いただきました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" y="5815584"/>
            <a:ext cx="10874959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5870448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片付けは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90288" y="5870448"/>
            <a:ext cx="6903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524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持ち込んだものを全部引き上げ、ゴミも持ち帰ります。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C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跡は残りません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" y="6675120"/>
            <a:ext cx="10874959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051560"/>
            <a:ext cx="108749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この企画のねらい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965960"/>
            <a:ext cx="5266944" cy="1298448"/>
          </a:xfrm>
          <a:prstGeom prst="roundRect">
            <a:avLst>
              <a:gd name="adj" fmla="val 7042"/>
            </a:avLst>
          </a:prstGeom>
          <a:solidFill>
            <a:srgbClr val="0E3C56"/>
          </a:solidFill>
          <a:ln w="12700">
            <a:solidFill>
              <a:srgbClr val="1B58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7552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C3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待たせない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87552" y="2551176"/>
            <a:ext cx="46085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3DC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塗り終えてから動き出すまで約3秒。「描いて終わり」にしません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99632" y="1965960"/>
            <a:ext cx="5266944" cy="1298448"/>
          </a:xfrm>
          <a:prstGeom prst="roundRect">
            <a:avLst>
              <a:gd name="adj" fmla="val 7042"/>
            </a:avLst>
          </a:prstGeom>
          <a:solidFill>
            <a:srgbClr val="0E3C56"/>
          </a:solidFill>
          <a:ln w="12700">
            <a:solidFill>
              <a:srgbClr val="1B58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28816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C3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見つけられる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28816" y="2551176"/>
            <a:ext cx="46085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3DC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同時に動くのは最新の50匹まで。増えすぎて自分の絵を見失わないようにしています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" y="3447288"/>
            <a:ext cx="5266944" cy="1298448"/>
          </a:xfrm>
          <a:prstGeom prst="roundRect">
            <a:avLst>
              <a:gd name="adj" fmla="val 7042"/>
            </a:avLst>
          </a:prstGeom>
          <a:solidFill>
            <a:srgbClr val="0E3C56"/>
          </a:solidFill>
          <a:ln w="12700">
            <a:solidFill>
              <a:srgbClr val="1B58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36301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C3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持ち帰れる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87552" y="4032504"/>
            <a:ext cx="46085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3DC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紙は本人のものです。画面の中と手元の両方に残ります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99632" y="3447288"/>
            <a:ext cx="5266944" cy="1298448"/>
          </a:xfrm>
          <a:prstGeom prst="roundRect">
            <a:avLst>
              <a:gd name="adj" fmla="val 7042"/>
            </a:avLst>
          </a:prstGeom>
          <a:solidFill>
            <a:srgbClr val="0E3C56"/>
          </a:solidFill>
          <a:ln w="12700">
            <a:solidFill>
              <a:srgbClr val="1B58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28816" y="36301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C3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繰り返せる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28816" y="4032504"/>
            <a:ext cx="46085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3DC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1人が2枚描いても仕組みは変わりません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4928616"/>
            <a:ext cx="10808208" cy="914400"/>
          </a:xfrm>
          <a:prstGeom prst="roundRect">
            <a:avLst>
              <a:gd name="adj" fmla="val 10000"/>
            </a:avLst>
          </a:prstGeom>
          <a:solidFill>
            <a:srgbClr val="0E3C56"/>
          </a:solidFill>
          <a:ln w="12700">
            <a:solidFill>
              <a:srgbClr val="1B58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505663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C3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次の導線につながる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90288" y="4928616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3DC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体験の余韻がある状態でアンケート等へ案内できます（実績あり）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9B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お絵かき水族館・お絵かきダイナソー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お絵かき水族館・お絵かきダイナソー 企画書</dc:title>
  <dc:subject>PptxGenJS Presentation</dc:subject>
  <dc:creator>お絵かき水族館・お絵かきダイナソー</dc:creator>
  <cp:lastModifiedBy>お絵かき水族館・お絵かきダイナソー</cp:lastModifiedBy>
  <cp:revision>1</cp:revision>
  <dcterms:created xsi:type="dcterms:W3CDTF">2026-10-02T08:31:41Z</dcterms:created>
  <dcterms:modified xsi:type="dcterms:W3CDTF">2026-10-02T08:31:41Z</dcterms:modified>
</cp:coreProperties>
</file>